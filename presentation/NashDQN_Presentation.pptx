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2286000" cy="5486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1371600" cy="54864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4FM3  ·  McMaster University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Q-Learning for Nash Equilibria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Nash-DQN  ·  Casgrain, Ning &amp; Jaimungal (2022)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114800" cy="36576"/>
          </a:xfrm>
          <a:prstGeom prst="rect">
            <a:avLst/>
          </a:prstGeom>
          <a:solidFill>
            <a:srgbClr val="3A5278"/>
          </a:solidFill>
          <a:ln w="12700">
            <a:solidFill>
              <a:srgbClr val="3A52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17520"/>
            <a:ext cx="3931920" cy="713232"/>
          </a:xfrm>
          <a:prstGeom prst="rect">
            <a:avLst/>
          </a:prstGeom>
          <a:solidFill>
            <a:srgbClr val="122144"/>
          </a:solidFill>
          <a:ln w="6350">
            <a:solidFill>
              <a:srgbClr val="3A52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01752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01752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A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Lead 1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Finance · SDEs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931920" cy="713232"/>
          </a:xfrm>
          <a:prstGeom prst="rect">
            <a:avLst/>
          </a:prstGeom>
          <a:solidFill>
            <a:srgbClr val="122144"/>
          </a:solidFill>
          <a:ln w="6350">
            <a:solidFill>
              <a:srgbClr val="3A52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84048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B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Lead 2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Control · Bellman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931920" cy="713232"/>
          </a:xfrm>
          <a:prstGeom prst="rect">
            <a:avLst/>
          </a:prstGeom>
          <a:solidFill>
            <a:srgbClr val="122144"/>
          </a:solidFill>
          <a:ln w="6350">
            <a:solidFill>
              <a:srgbClr val="3A52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3017520"/>
            <a:ext cx="54864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301752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C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Lead 1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· PyTorch · Environment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840480"/>
            <a:ext cx="3931920" cy="713232"/>
          </a:xfrm>
          <a:prstGeom prst="rect">
            <a:avLst/>
          </a:prstGeom>
          <a:solidFill>
            <a:srgbClr val="122144"/>
          </a:solidFill>
          <a:ln w="6350">
            <a:solidFill>
              <a:srgbClr val="3A52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840480"/>
            <a:ext cx="54864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84048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Lead 2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· Training · Plots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7,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THEORY  ·  SLIDE 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4023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agents trade assets simultaneously in a shared market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agent's action (trading rate ν) affects the price seen by all others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strategies where no agent can unilaterally improve their reward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single-agent RL fails — ignores strategic interaction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multi-agent equilibrium learning framework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023360" cy="3200400"/>
          </a:xfrm>
          <a:prstGeom prst="rect">
            <a:avLst/>
          </a:prstGeom>
          <a:solidFill>
            <a:srgbClr val="0D1B3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6576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deep Q-learning discover Nash equilibrium strategies in continuous stochastic games?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optimal execution — liquidate inventory over horizon T with minimal market impact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LQ structure must be imposed to make Nash operator tractable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2286000" cy="5486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1371600" cy="54864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THEORY  ·  SLIDE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822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Framework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" y="1508760"/>
            <a:ext cx="2606040" cy="3246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508760"/>
            <a:ext cx="26060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96596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agents, state x_t ∈ X (Banach space)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 takes action u_{i,t} ∈ U_i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kernel  p(x_{t+1} | x_t, u_t)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Decision Process structure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508760"/>
            <a:ext cx="2606040" cy="3246120"/>
          </a:xfrm>
          <a:prstGeom prst="rect">
            <a:avLst/>
          </a:prstGeom>
          <a:solidFill>
            <a:srgbClr val="0A16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508760"/>
            <a:ext cx="260604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196596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maximises discounted reward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R_i = E[ Σ γ^t · r_i(x_t, π_i, π_{-i}) 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∈ (0,1): discount factor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r_i concave in u_i — guarantees unique best response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1508760"/>
            <a:ext cx="2606040" cy="3246120"/>
          </a:xfrm>
          <a:prstGeom prst="rect">
            <a:avLst/>
          </a:prstGeom>
          <a:solidFill>
            <a:srgbClr val="0A162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508760"/>
            <a:ext cx="260604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 Equilibrium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965960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profile π* where no agent gains by deviating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R_i(π_i, π*_{-i}) ≤ R_i(π*_i, π*_{-i})  ∀ π_i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of no-arbitrage to multi-agent games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via Nash-Bellman fixed-point equation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THEORY  ·  SLIDE 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Model Definition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Dynamics  (Euler-Maruyama)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8321040" cy="438912"/>
          </a:xfrm>
          <a:prstGeom prst="rect">
            <a:avLst/>
          </a:prstGeom>
          <a:solidFill>
            <a:srgbClr val="1A2E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3736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S_{t+Δt} = S_t + [κ(θ − S_t) + η·ν̄_t]·Δt + ΔY_t + σ√Δt · N(0,1)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240280"/>
            <a:ext cx="8321040" cy="411480"/>
          </a:xfrm>
          <a:prstGeom prst="rect">
            <a:avLst/>
          </a:prstGeom>
          <a:solidFill>
            <a:srgbClr val="1A2E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402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Y_{t+Δt} = (1 − ρ·Δt)·Y_t + γ·sign(ν̄_t)·√|ν̄_t|·Δt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8072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 &amp;  Reward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127248"/>
            <a:ext cx="3931920" cy="384048"/>
          </a:xfrm>
          <a:prstGeom prst="rect">
            <a:avLst/>
          </a:prstGeom>
          <a:solidFill>
            <a:srgbClr val="1A2E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27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q_{i,t+Δt} = q_{i,t} + ν_{i,t}·Δt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3127248"/>
            <a:ext cx="4251960" cy="384048"/>
          </a:xfrm>
          <a:prstGeom prst="rect">
            <a:avLst/>
          </a:prstGeom>
          <a:solidFill>
            <a:srgbClr val="1A2E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12724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R_i = E[ cash + q_{i,T}(S_T − b2·q_{i,T}) − b3·∫q²dt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703320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0332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mean-reversion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28800" y="3703320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370332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impact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46120" y="3703320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370332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impact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63440" y="3703320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70332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decay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80760" y="3703320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370332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cost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98080" y="3703320"/>
            <a:ext cx="1325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703320"/>
            <a:ext cx="1325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4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pen.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2286000" cy="5486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1371600" cy="54864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THEORY  ·  SLIDE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822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" y="1508760"/>
            <a:ext cx="50292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087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1508760"/>
            <a:ext cx="717804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150876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Property  </a:t>
            </a:r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process {(x_t, u_t)} is Markov — enables Bellman decomposition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313432"/>
            <a:ext cx="502920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134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2313432"/>
            <a:ext cx="717804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231343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Concavity of Reward  </a:t>
            </a:r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r_i is concave in u_i (fixed u_{-i}) — guarantees unique best response and Nash existence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118104"/>
            <a:ext cx="502920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1810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3118104"/>
            <a:ext cx="717804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3118104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Invariance  </a:t>
            </a:r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share identical preferences — advantage reduces to shared parameters, cutting cost by N²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922776"/>
            <a:ext cx="502920" cy="658368"/>
          </a:xfrm>
          <a:prstGeom prst="rect">
            <a:avLst/>
          </a:prstGeom>
          <a:solidFill>
            <a:srgbClr val="E07BFF"/>
          </a:solidFill>
          <a:ln w="12700">
            <a:solidFill>
              <a:srgbClr val="E07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92277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" y="3922776"/>
            <a:ext cx="7178040" cy="658368"/>
          </a:xfrm>
          <a:prstGeom prst="rect">
            <a:avLst/>
          </a:prstGeom>
          <a:solidFill>
            <a:srgbClr val="0A1628"/>
          </a:solidFill>
          <a:ln w="6350">
            <a:solidFill>
              <a:srgbClr val="E07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3922776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 Structure  </a:t>
            </a:r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Q-function is locally linear-quadratic in actions — Nash operator is analytic, no inner optimisation needed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4709160"/>
            <a:ext cx="8229600" cy="256032"/>
          </a:xfrm>
          <a:prstGeom prst="rect">
            <a:avLst/>
          </a:prstGeom>
          <a:solidFill>
            <a:srgbClr val="0A1628"/>
          </a:solidFill>
          <a:ln w="6350">
            <a:solidFill>
              <a:srgbClr val="3A52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  N=5 · T=5h · M=10 steps · κ=0.1 · θ=10 · σ=0.01 · γ=0.02 · ρ=0.5 · η=0.05 · b1=b2=0.1 · b3=0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THEORY  ·  SLIDE 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Theoretical Results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Q-Function Decomposition  (eq. 4.3)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8321040" cy="402336"/>
          </a:xfrm>
          <a:prstGeom prst="rect">
            <a:avLst/>
          </a:prstGeom>
          <a:solidFill>
            <a:srgbClr val="1A2E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71907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Q̂_i(x; u) = V̂_i(x)  +  A_i(x; u)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2402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Function  —  label-invariant form  (eq. 4.12)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542032"/>
            <a:ext cx="8321040" cy="402336"/>
          </a:xfrm>
          <a:prstGeom prst="rect">
            <a:avLst/>
          </a:prstGeom>
          <a:solidFill>
            <a:srgbClr val="1A2E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42032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A_i = −P11·(u_i−μ_i)² − P12·(u_i−μ_i)·Σ_{j≠i}(u_j−μ_j) − P22·Σ(u_j−μ_j)² + ψ·Σ(u_j−μ_j)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090672"/>
            <a:ext cx="26517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1455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 Action  (analytic)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47288"/>
            <a:ext cx="2468880" cy="329184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472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u*_i(x) = μ^θ_i(x)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1208" y="3831336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 ≻ 0 via Cholesky → Q̂_i concave in u_i → argmax is closed-form. No inner loop.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27832" y="3090672"/>
            <a:ext cx="26517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19272" y="31455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 Gap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19272" y="3447288"/>
            <a:ext cx="2468880" cy="329184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34472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G(x) = max Q̂_i − Q̂_i(u*) ≥ 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7560" y="3831336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 → 0 at convergence means no agent gains from deviation.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44184" y="3090672"/>
            <a:ext cx="26517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35624" y="31455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L¹ Regularisation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35624" y="3447288"/>
            <a:ext cx="2468880" cy="329184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34472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1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L̃ = L̂ + β·|ψ^θ(x)|,  β=100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53912" y="3831336"/>
            <a:ext cx="2450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 ψ (opponent linear term). Prevents Q-value blow-up.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2286000" cy="5486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1371600" cy="54864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PRACTICE  ·  SLIDE 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822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Environment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 (eq. 20)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828800"/>
            <a:ext cx="4754880" cy="402336"/>
          </a:xfrm>
          <a:prstGeom prst="rect">
            <a:avLst/>
          </a:prstGeom>
          <a:solidFill>
            <a:srgbClr val="1A2E5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 = [ S_t/S_0,  t/T,  Σ(q_{i,0}−q_{i,t})/Σq_{i,0},  Y_t ]  ∈ ℝ⁴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359152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TradingEnv class — reset(), step(actions), _compute_reward()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agents, each starts with inventory q_{i,0} = 1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decision steps over T=5 hours  (Δt = 0.5 h)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reward → inventory → time → Y_t → S_t update order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penalty b2·q²_{i,T} enforces liquidation pressure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Brownian motion validated: Var(S_T) ≈ σ²T  (5,000 paths)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49240" y="1508760"/>
            <a:ext cx="329184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508760"/>
            <a:ext cx="3291840" cy="347472"/>
          </a:xfrm>
          <a:prstGeom prst="rect">
            <a:avLst/>
          </a:prstGeom>
          <a:solidFill>
            <a:srgbClr val="F4A2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1508760"/>
            <a:ext cx="3291840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1508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1920240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ν_i ∈ ℝ (continuous trading rate)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selling, positive = buying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to [-2, 2] during training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ν_i = μ^θ_i(x) + ε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~ N(0, σ_b²), σ_b decays each episode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greedy, ε = 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PRACTICE  ·  SLIDE 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Nash-DQN Architecture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34747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63040"/>
            <a:ext cx="3474720" cy="3383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63040"/>
            <a:ext cx="3474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Network  V̂^θ_V(x)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32004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state x ∈ ℝ⁴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hidden layers × 32 nodes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 activations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scalar V̂_i(x)  (shared across agents)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baseline value at state 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23360" y="2788920"/>
            <a:ext cx="731520" cy="54864"/>
          </a:xfrm>
          <a:prstGeom prst="rect">
            <a:avLst/>
          </a:prstGeom>
          <a:solidFill>
            <a:srgbClr val="3A5278"/>
          </a:solidFill>
          <a:ln w="12700">
            <a:solidFill>
              <a:srgbClr val="3A52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A5278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93192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+ 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1463040"/>
            <a:ext cx="37947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463040"/>
            <a:ext cx="3794760" cy="3383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463040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Network  A^θ_A(x; u)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1874520"/>
            <a:ext cx="35204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Perm-Invariant Layer: φ applied per agent, summed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net: 4 hidden layers × 32 nodes, SiLU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per agent: (μ_i,  L11_i,  P12_i,  P22_i,  ψ_i)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P11_i = L11_i² + ε  →  always positive-definite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 action u*_i = μ_i(x)  (analytic, no inner loop)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2286000" cy="5486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1371600" cy="54864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PRACTICE  ·  SLIDE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C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822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5.1 — Nash-DQN Training Loop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" y="145389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1417320"/>
            <a:ext cx="7223760" cy="512064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1417320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 </a:t>
            </a:r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env → get state x_t → select u = μ^θ(x) + ε (decaying noise) → step env → store (x, u, r, x') in replay buffer 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02082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1984248"/>
            <a:ext cx="7223760" cy="512064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1984248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 </a:t>
            </a:r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random minibatch from D → avoids correlated gradient updates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58775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2551176"/>
            <a:ext cx="7223760" cy="512064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2551176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Bellman target y = r + γ·V̂_target(x') using frozen target network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15468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3118104"/>
            <a:ext cx="7223760" cy="512064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3118104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θ_V  </a:t>
            </a:r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→ compute loss L = ||V̂(x)+A(x;u) − y||² + β|ψ| → gradient step on Value Net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721608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3685032"/>
            <a:ext cx="7223760" cy="512064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3685032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θ_A  </a:t>
            </a:r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independent forward pass → gradient step on Advantage Net (separate to avoid in-place graph corruption)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4288536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</a:rPr>
              <a:t>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4400" y="4251960"/>
            <a:ext cx="7223760" cy="512064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" y="4251960"/>
            <a:ext cx="7040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 </a:t>
            </a:r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episodes: copy weights to target network (hard update) → decay exploration noise σ_b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PRACTICE  ·  SLIDE 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Baselines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0" y="187452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43200" y="2212848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55117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0" y="2551176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10⁻³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88950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0" y="2889504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(wd=10⁻³)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22783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σ_0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0" y="3227832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0.3, decay 0.995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 (L¹ reg.)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0" y="3566160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90448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update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0" y="3904488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10 eps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242816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clipping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0" y="4242816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≤ 1.0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1417320"/>
            <a:ext cx="4023360" cy="3246120"/>
          </a:xfrm>
          <a:prstGeom prst="rect">
            <a:avLst/>
          </a:prstGeom>
          <a:solidFill>
            <a:srgbClr val="0D1B35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Compared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938528"/>
            <a:ext cx="370332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19842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2322576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inventory at constant rate ν = q₀/T — ignores all market dynamics and agent interaction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355848"/>
            <a:ext cx="370332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40156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Nash-DQN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3739896"/>
            <a:ext cx="3429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policy via Algorithm 5.1 — exploits price impact awareness and strategic coordination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2286000" cy="5486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1371600" cy="54864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PRACTICE  ·  SLIDE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822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Training Convergence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" y="1463040"/>
            <a:ext cx="3977640" cy="2788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630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 (log scale)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783080"/>
            <a:ext cx="3977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78"/>
                </a:solidFill>
              </a:rPr>
              <a:t>[ figure placeholder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step2_training_curves.png — left panel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3977640" cy="2788920"/>
          </a:xfrm>
          <a:prstGeom prst="rect">
            <a:avLst/>
          </a:prstGeom>
          <a:solidFill>
            <a:srgbClr val="0A162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4630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Reward — Agent 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3977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78"/>
                </a:solidFill>
              </a:rPr>
              <a:t>[ figure placeholder 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1945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step2_training_curves.png — right panel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4343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decreases monotonically on log scale → Bellman consistency improving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stabilises after ~300 episodes → policy converges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alternating gradient steps per iteration match Algorithm 5.1 exactly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|ψ(x)| remains small throughout → L¹ regularisation working correctly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PRACTICE  ·  SLIDE 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Nash-DQN vs TWAP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4023360" cy="324612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Plots: Reward per Agent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4B8"/>
                </a:solidFill>
              </a:rPr>
              <a:t>[ Insert: step5_boxplots.png 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6908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4173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Trajectories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1828800"/>
            <a:ext cx="4069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4B8"/>
                </a:solidFill>
              </a:rPr>
              <a:t>[ Insert: step6_inventory_price.png 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33649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675888"/>
            <a:ext cx="40233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Nash-DQN agents adapt liquidation speed to market conditions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TWAP ignores price impact — suboptimal under strategic interaction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N=5, collective impact is large → coordination advantage grows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Nash-DQN reduces terminal inventory penalty via learned urgency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2286000" cy="5486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1371600" cy="54864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3A5278"/>
          </a:solidFill>
          <a:ln w="12700">
            <a:solidFill>
              <a:srgbClr val="3A52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DISCUSSION  ·  SLIDE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822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8229600" cy="685800"/>
          </a:xfrm>
          <a:prstGeom prst="rect">
            <a:avLst/>
          </a:prstGeom>
          <a:solidFill>
            <a:srgbClr val="0A1628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481328"/>
            <a:ext cx="54864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481328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 Approximation Quality  </a:t>
            </a:r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function is only locally linear-quadratic. True Q* may be nonlinear → policy is approximate near boundaries.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2276856"/>
            <a:ext cx="8229600" cy="685800"/>
          </a:xfrm>
          <a:prstGeom prst="rect">
            <a:avLst/>
          </a:prstGeom>
          <a:solidFill>
            <a:srgbClr val="0A1628"/>
          </a:solidFill>
          <a:ln w="10160">
            <a:solidFill>
              <a:srgbClr val="F781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276856"/>
            <a:ext cx="54864" cy="68580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76856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Placeholder in Buffer  </a:t>
            </a:r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inventories not stored in replay buffer → perm-inv layer trained with zero-inventory input → weaker feature representation.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3072384"/>
            <a:ext cx="8229600" cy="685800"/>
          </a:xfrm>
          <a:prstGeom prst="rect">
            <a:avLst/>
          </a:prstGeom>
          <a:solidFill>
            <a:srgbClr val="0A1628"/>
          </a:solidFill>
          <a:ln w="10160">
            <a:solidFill>
              <a:srgbClr val="7A9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072384"/>
            <a:ext cx="54864" cy="685800"/>
          </a:xfrm>
          <a:prstGeom prst="rect">
            <a:avLst/>
          </a:prstGeom>
          <a:solidFill>
            <a:srgbClr val="7A94B8"/>
          </a:solidFill>
          <a:ln w="12700">
            <a:solidFill>
              <a:srgbClr val="7A94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72384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Decision Steps  </a:t>
            </a:r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M=10 steps per episode — coarse grid misses intra-step dynamics. Continuous-time theory vs discrete implementation gap.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867912"/>
            <a:ext cx="8229600" cy="685800"/>
          </a:xfrm>
          <a:prstGeom prst="rect">
            <a:avLst/>
          </a:prstGeom>
          <a:solidFill>
            <a:srgbClr val="0A1628"/>
          </a:solidFill>
          <a:ln w="10160">
            <a:solidFill>
              <a:srgbClr val="D2A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867912"/>
            <a:ext cx="54864" cy="68580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67912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Guarantees  </a:t>
            </a:r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 Q-learning convergence (Hu &amp; Wellman 2003) requires tabular setting. Neural function approximation has no formal guarantee.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3A5278"/>
          </a:solidFill>
          <a:ln w="12700">
            <a:solidFill>
              <a:srgbClr val="3A52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DISCUSSION  ·  SLIDE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D8E8F4"/>
          </a:solidFill>
          <a:ln w="12700">
            <a:solidFill>
              <a:srgbClr val="D8E8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8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Improvements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260604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17320"/>
            <a:ext cx="50292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17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17647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inventories in replay buffer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209397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state to ℝ^{4+N} — include per-agent inventory. Eliminates zero-placeholder issue. Minor buffer change, significant feature improvement.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60604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F4A26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417320"/>
            <a:ext cx="50292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417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9272" y="17647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Fictitious Play warm-start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9272" y="209397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Nash-DQN from Fictitious Play policy (Algorithm 6.1). Empirically reduces training time and improves early convergence.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1417320"/>
            <a:ext cx="260604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C4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417320"/>
            <a:ext cx="502920" cy="32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4173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53912" y="17647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training budget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53912" y="209397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episodes with M=10 = 5,000 transitions. Paper uses 20,000 iterations. More training improves policy quality and reward gap vs TWAP.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017520"/>
            <a:ext cx="260604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D2A8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017520"/>
            <a:ext cx="502920" cy="320040"/>
          </a:xfrm>
          <a:prstGeom prst="rect">
            <a:avLst/>
          </a:prstGeom>
          <a:solidFill>
            <a:srgbClr val="D2A8FF"/>
          </a:solidFill>
          <a:ln w="12700">
            <a:solidFill>
              <a:srgbClr val="D2A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017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" y="3364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Continuous-time extension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" y="369417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Euler-Maruyama with finer grid or continuous actor-critic (DDPG-style). Better aligns SDE theory with implementation.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3017520"/>
            <a:ext cx="260604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F781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3017520"/>
            <a:ext cx="502920" cy="32004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3017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19272" y="3364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sweep from paper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19272" y="369417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100 is the paper's optimal value. Our β = 1.0 under-regularises ψ. A proper sweep {10, 100, 1000} would reproduce Figure 1.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3017520"/>
            <a:ext cx="260604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7A94B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3017520"/>
            <a:ext cx="502920" cy="320040"/>
          </a:xfrm>
          <a:prstGeom prst="rect">
            <a:avLst/>
          </a:prstGeom>
          <a:solidFill>
            <a:srgbClr val="7A94B8"/>
          </a:solidFill>
          <a:ln w="12700">
            <a:solidFill>
              <a:srgbClr val="7A94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3017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53912" y="3364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of Anarchy analysis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53912" y="369417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social welfare (Σ R_i^Nash) vs (Σ R_i^optimal). Quantifies cost of strategic competition — bridges to mean-field game limit.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2286000" cy="5486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0"/>
            <a:ext cx="1371600" cy="54864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3A5278"/>
          </a:solidFill>
          <a:ln w="12700">
            <a:solidFill>
              <a:srgbClr val="3A52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DISCUSSION  ·  SLIDE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solidFill>
            <a:srgbClr val="1A2E50"/>
          </a:solidFill>
          <a:ln w="12700">
            <a:solidFill>
              <a:srgbClr val="1A2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7548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822960"/>
            <a:ext cx="64008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8229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" y="1508760"/>
            <a:ext cx="3931920" cy="3246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508760"/>
            <a:ext cx="3931920" cy="3383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08760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938528"/>
            <a:ext cx="361188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TradingEnv with SDE dynamics (N=5)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NashDQN: ValueNet + AdvantageNet with Cholesky P11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Permutation-invariant layer (eq. 4.10)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5.1 with alternating θ_V / θ_A updates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Brownian motion unit test — ratio ≈ 1.0 confirmed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Nash-DQN vs TWAP evaluation over 200 episodes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17720" y="1508760"/>
            <a:ext cx="3931920" cy="3246120"/>
          </a:xfrm>
          <a:prstGeom prst="rect">
            <a:avLst/>
          </a:prstGeom>
          <a:solidFill>
            <a:srgbClr val="0A1628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508760"/>
            <a:ext cx="3931920" cy="3383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508760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938528"/>
            <a:ext cx="361188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 structure makes Nash equilibrium analytic — tractable at scale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Cholesky enforcement of P11 ≻ 0 is essential for concavity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Perm-invariant layer encodes label-invariance — reduces params by N²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TWAP is optimal only when agents don't interact (η=0)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N=5, strategic coordination provides measurable reward advantage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generalises to any continuous stochastic game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474720"/>
            <a:ext cx="1828800" cy="18288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-274320"/>
            <a:ext cx="1097280" cy="1097280"/>
          </a:xfrm>
          <a:prstGeom prst="ellipse">
            <a:avLst/>
          </a:prstGeom>
          <a:solidFill>
            <a:srgbClr val="F4A261">
              <a:alpha val="2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822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Q-Learning for Nash Equilibria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389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4FM3  ·  McMaster University  ·  April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0" y="472744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arXiv:1904.10554v2  ·  Casgrain, Ning &amp; Jaimungal (2022)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Q-Learning for Nash Equilibria</dc:title>
  <dc:subject>PptxGenJS Presentation</dc:subject>
  <dc:creator>PptxGenJS</dc:creator>
  <cp:lastModifiedBy>PptxGenJS</cp:lastModifiedBy>
  <cp:revision>1</cp:revision>
  <dcterms:created xsi:type="dcterms:W3CDTF">2026-04-01T22:54:33Z</dcterms:created>
  <dcterms:modified xsi:type="dcterms:W3CDTF">2026-04-01T22:54:33Z</dcterms:modified>
</cp:coreProperties>
</file>